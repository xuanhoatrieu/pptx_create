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wav" ContentType="audio/wav"/>
  <Override PartName="/ppt/media/media2.wav" ContentType="audio/wav"/>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a:latin typeface="Arial"/>
              </a:defRPr>
            </a:pPr>
            <a:r>
              <a:t>"Trong bài học hôm nay, chúng ta sẽ cùng nhau đi qua bốn phần chính. Đầu tiên là nhìn lại hành trình lịch sử của mạng máy tính. Tiếp theo, chúng ta sẽ định nghĩa các khái niệm cốt lõi. Sau đó, chúng ta sẽ 'mổ xẻ' xem một mạng máy tính được cấu thành từ những gì. Và cuối cùng là học cách phân loại chúng."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1.wav"/><Relationship Id="rId4" Type="http://schemas.openxmlformats.org/officeDocument/2006/relationships/video" Target="../media/media1.wav"/><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 Id="rId4" Type="http://schemas.microsoft.com/office/2007/relationships/media" Target="../media/media2.wav"/><Relationship Id="rId5" Type="http://schemas.openxmlformats.org/officeDocument/2006/relationships/video" Target="../media/media2.wav"/><Relationship Id="rId6"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914400" y="1828800"/>
            <a:ext cx="7315200" cy="1371600"/>
          </a:xfrm>
          <a:prstGeom prst="rect">
            <a:avLst/>
          </a:prstGeom>
          <a:noFill/>
        </p:spPr>
        <p:txBody>
          <a:bodyPr wrap="none">
            <a:spAutoFit/>
          </a:bodyPr>
          <a:lstStyle/>
          <a:p>
            <a:pPr algn="ctr">
              <a:defRPr sz="4400" b="1">
                <a:solidFill>
                  <a:srgbClr val="FFFFFF"/>
                </a:solidFill>
                <a:latin typeface="Arial"/>
              </a:defRPr>
            </a:pPr>
            <a:r>
              <a:t>Tổng quan Mạng máy tính</a:t>
            </a:r>
          </a:p>
        </p:txBody>
      </p:sp>
      <p:sp>
        <p:nvSpPr>
          <p:cNvPr id="4" name="TextBox 3"/>
          <p:cNvSpPr txBox="1"/>
          <p:nvPr/>
        </p:nvSpPr>
        <p:spPr>
          <a:xfrm>
            <a:off x="914400" y="3200400"/>
            <a:ext cx="7315200" cy="914400"/>
          </a:xfrm>
          <a:prstGeom prst="rect">
            <a:avLst/>
          </a:prstGeom>
          <a:noFill/>
        </p:spPr>
        <p:txBody>
          <a:bodyPr wrap="none">
            <a:spAutoFit/>
          </a:bodyPr>
          <a:lstStyle/>
          <a:p>
            <a:pPr algn="ctr">
              <a:defRPr sz="2200">
                <a:solidFill>
                  <a:srgbClr val="FFFFFF"/>
                </a:solidFill>
                <a:latin typeface="Arial"/>
              </a:defRPr>
            </a:pPr>
            <a:r>
              <a:t>Môn học: Mạng máy tính và Truyền thông | Giảng viên: [Tên giảng viên]</a:t>
            </a:r>
          </a:p>
        </p:txBody>
      </p:sp>
      <p:pic>
        <p:nvPicPr>
          <p:cNvPr id="5" name="slide_1.wav">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9144000" y="0"/>
            <a:ext cx="457200" cy="4572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57200" y="182880"/>
            <a:ext cx="8229600" cy="731520"/>
          </a:xfrm>
          <a:prstGeom prst="rect">
            <a:avLst/>
          </a:prstGeom>
          <a:noFill/>
        </p:spPr>
        <p:txBody>
          <a:bodyPr wrap="none">
            <a:spAutoFit/>
          </a:bodyPr>
          <a:lstStyle/>
          <a:p>
            <a:pPr algn="ctr">
              <a:defRPr sz="2800">
                <a:solidFill>
                  <a:srgbClr val="FFFFFF"/>
                </a:solidFill>
                <a:latin typeface="Arial"/>
              </a:defRPr>
            </a:pPr>
            <a:r>
              <a:t>Nội dung bài học</a:t>
            </a:r>
          </a:p>
        </p:txBody>
      </p:sp>
      <p:sp>
        <p:nvSpPr>
          <p:cNvPr id="4" name="TextBox 3"/>
          <p:cNvSpPr txBox="1"/>
          <p:nvPr/>
        </p:nvSpPr>
        <p:spPr>
          <a:xfrm>
            <a:off x="457200" y="1097280"/>
            <a:ext cx="4114800" cy="3657600"/>
          </a:xfrm>
          <a:prstGeom prst="rect">
            <a:avLst/>
          </a:prstGeom>
          <a:noFill/>
        </p:spPr>
        <p:txBody>
          <a:bodyPr wrap="square">
            <a:spAutoFit/>
          </a:bodyPr>
          <a:lstStyle/>
          <a:p/>
          <a:p>
            <a:pPr>
              <a:spcAft>
                <a:spcPts val="1600"/>
              </a:spcAft>
              <a:defRPr sz="2400">
                <a:solidFill>
                  <a:srgbClr val="3A664D"/>
                </a:solidFill>
                <a:latin typeface="Arial"/>
              </a:defRPr>
            </a:pPr>
            <a:r>
              <a:t>⏳ Lịch sử</a:t>
            </a:r>
          </a:p>
          <a:p>
            <a:pPr>
              <a:spcAft>
                <a:spcPts val="1600"/>
              </a:spcAft>
              <a:defRPr sz="2400">
                <a:solidFill>
                  <a:srgbClr val="3A664D"/>
                </a:solidFill>
                <a:latin typeface="Arial"/>
              </a:defRPr>
            </a:pPr>
            <a:r>
              <a:t>📖 Khái niệm</a:t>
            </a:r>
          </a:p>
        </p:txBody>
      </p:sp>
      <p:sp>
        <p:nvSpPr>
          <p:cNvPr id="5" name="TextBox 4"/>
          <p:cNvSpPr txBox="1"/>
          <p:nvPr/>
        </p:nvSpPr>
        <p:spPr>
          <a:xfrm>
            <a:off x="4572000" y="1097280"/>
            <a:ext cx="4114800" cy="3657600"/>
          </a:xfrm>
          <a:prstGeom prst="rect">
            <a:avLst/>
          </a:prstGeom>
          <a:noFill/>
        </p:spPr>
        <p:txBody>
          <a:bodyPr wrap="square">
            <a:spAutoFit/>
          </a:bodyPr>
          <a:lstStyle/>
          <a:p/>
          <a:p>
            <a:pPr>
              <a:spcAft>
                <a:spcPts val="1600"/>
              </a:spcAft>
              <a:defRPr sz="2400">
                <a:solidFill>
                  <a:srgbClr val="3A664D"/>
                </a:solidFill>
                <a:latin typeface="Arial"/>
              </a:defRPr>
            </a:pPr>
            <a:r>
              <a:t>⚙️ Thành phần</a:t>
            </a:r>
          </a:p>
          <a:p>
            <a:pPr>
              <a:spcAft>
                <a:spcPts val="1600"/>
              </a:spcAft>
              <a:defRPr sz="2400">
                <a:solidFill>
                  <a:srgbClr val="3A664D"/>
                </a:solidFill>
                <a:latin typeface="Arial"/>
              </a:defRPr>
            </a:pPr>
            <a:r>
              <a:t>🗂️ Phân loại</a:t>
            </a:r>
          </a:p>
        </p:txBody>
      </p:sp>
      <p:pic>
        <p:nvPicPr>
          <p:cNvPr id="6" name="slide_2.wav">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9144000" y="0"/>
            <a:ext cx="457200" cy="4572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